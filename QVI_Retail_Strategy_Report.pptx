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14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653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4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6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0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15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14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2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8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6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4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653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7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195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32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21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A9B5F21F-5A0E-0D3E-91EA-5164DA6573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09" y="2514600"/>
            <a:ext cx="6686550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solidFill>
                  <a:schemeClr val="tx1"/>
                </a:solidFill>
              </a:rPr>
              <a:t>QVI Retail Strategy: Customer Insights and Trial Uplift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09" y="4777379"/>
            <a:ext cx="6686550" cy="11262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 dirty="0"/>
              <a:t>Optimizing Chip Product Placement for Growth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Shreya Jaiswal | Data Analyst, </a:t>
            </a:r>
            <a:r>
              <a:rPr lang="en-US" sz="1100" dirty="0" err="1"/>
              <a:t>Quantium</a:t>
            </a: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100" dirty="0"/>
              <a:t>October 27, 2025</a:t>
            </a:r>
          </a:p>
          <a:p>
            <a:pPr>
              <a:lnSpc>
                <a:spcPct val="90000"/>
              </a:lnSpc>
            </a:pPr>
            <a:r>
              <a:rPr lang="en-US" sz="1100" dirty="0"/>
              <a:t>Client: QVI Retail Team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r>
              <a:t>Executive 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Recommend prioritizing larger pack sizes (150g+) for Young Singles/Couples (Mainstream)</a:t>
            </a:r>
          </a:p>
          <a:p>
            <a:pPr>
              <a:lnSpc>
                <a:spcPct val="90000"/>
              </a:lnSpc>
            </a:pPr>
            <a:r>
              <a:rPr lang="en-US" sz="1500"/>
              <a:t>Trial uplift: +15% sales in Stores 77 &amp; 88; no uplift in Store 86</a:t>
            </a:r>
          </a:p>
          <a:p>
            <a:pPr>
              <a:lnSpc>
                <a:spcPct val="90000"/>
              </a:lnSpc>
            </a:pPr>
            <a:r>
              <a:rPr lang="en-US" sz="1500"/>
              <a:t>Scale trial to 50+ stores with similar profiles</a:t>
            </a:r>
          </a:p>
          <a:p>
            <a:pPr>
              <a:lnSpc>
                <a:spcPct val="90000"/>
              </a:lnSpc>
            </a:pPr>
            <a:r>
              <a:rPr lang="en-US" sz="1500"/>
              <a:t>Potential 10–20% revenue lift from targeted segmentation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CB1C6-1655-51FC-7289-EA1F950F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657" y="1845329"/>
            <a:ext cx="5634497" cy="3070800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E42047-F7E7-4687-BBE0-D4BDC8E77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715" y="-1"/>
            <a:ext cx="915543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6F839A-C8D9-4FBC-8EFD-9E56D12F4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80072" y="228600"/>
            <a:ext cx="2138628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1F0D09B-BA85-41B1-A8DE-73728B72E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B2D0F0C-3A27-4FC3-A6A3-D2095D9B2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A1C69EF-E6E6-4BDD-B62F-637FC9F3C3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B4F36E-07F6-4E6F-A9D9-A7F6D9585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D9136C7-12F1-4F21-A438-ED7668DDF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718EF12-B769-45D9-9B6E-7AEAA3108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4EAD53-3968-459E-B27C-09126A0FE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7658BFE-59E2-4A2D-9E8A-18F81C350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FEC8A9E-385D-4407-9671-E30238022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FC82234-632C-4B76-A8FF-2C9C0DCA6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62A4DB3-C195-4230-953D-307E4100F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D310CF-9541-4CD7-855B-E2E1EF343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0EDA856-A216-4EEC-9AB6-A59FFC703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60794" y="-786"/>
            <a:ext cx="176750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36F815B8-AFA8-45E9-A3D1-977F2D192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D8FF653-8B3F-4B96-904D-1A4482EAE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4DD2E775-AB45-4AF1-B5B7-54948CFB9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7BDE7E7B-E3AA-4A24-8F9D-CE77C96C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D129CAA9-35E5-48CE-88AE-9806695CB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A73989FF-4EFF-4181-81A4-72EF2E67D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8C2C17BD-8FA0-4F42-B2CD-5E5A9F542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EEE99CF3-AD71-46FB-8E7D-67825F781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D0F9D5ED-7591-4E88-9FDA-4C1DC47E9D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8FA7C13-D80D-4514-B9DB-87AE076A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202C78DF-D842-450B-A87D-E035719E4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A4789F83-2423-47F8-8958-48E477BAE0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4640" y="624110"/>
            <a:ext cx="5133819" cy="1280890"/>
          </a:xfrm>
        </p:spPr>
        <p:txBody>
          <a:bodyPr>
            <a:normAutofit/>
          </a:bodyPr>
          <a:lstStyle/>
          <a:p>
            <a:r>
              <a:t>Agenda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509E7A-337A-4664-BEC2-03F9BCA0A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3724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D9AB99AB-E300-4B19-97C3-9A12EA3C7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2037240" y="714375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Periodic table of elements">
            <a:extLst>
              <a:ext uri="{FF2B5EF4-FFF2-40B4-BE49-F238E27FC236}">
                <a16:creationId xmlns:a16="http://schemas.microsoft.com/office/drawing/2014/main" id="{BCA5C2FF-B508-D6EB-ECCE-3C0FCC69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97" r="39018"/>
          <a:stretch>
            <a:fillRect/>
          </a:stretch>
        </p:blipFill>
        <p:spPr>
          <a:xfrm>
            <a:off x="20" y="1730"/>
            <a:ext cx="204038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2500" y="2133600"/>
            <a:ext cx="513595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Situation: QVI's Chip Market Challenge</a:t>
            </a:r>
          </a:p>
          <a:p>
            <a:pPr marL="0" indent="0">
              <a:buNone/>
            </a:pPr>
            <a:r>
              <a:rPr dirty="0"/>
              <a:t>2. Key Insights: Customer Segments &amp; Preferences</a:t>
            </a:r>
          </a:p>
          <a:p>
            <a:pPr marL="0" indent="0">
              <a:buNone/>
            </a:pPr>
            <a:r>
              <a:rPr dirty="0"/>
              <a:t>3. Analysis: Trial Results &amp; Uplift</a:t>
            </a:r>
          </a:p>
          <a:p>
            <a:pPr marL="0" indent="0">
              <a:buNone/>
            </a:pPr>
            <a:r>
              <a:rPr dirty="0"/>
              <a:t>4. Recommendations &amp; Next Steps</a:t>
            </a:r>
          </a:p>
          <a:p>
            <a:pPr marL="0" indent="0">
              <a:buNone/>
            </a:pPr>
            <a:r>
              <a:rPr dirty="0"/>
              <a:t>5.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3841989" cy="1259894"/>
          </a:xfrm>
        </p:spPr>
        <p:txBody>
          <a:bodyPr>
            <a:normAutofit/>
          </a:bodyPr>
          <a:lstStyle/>
          <a:p>
            <a:r>
              <a:rPr lang="en-US"/>
              <a:t>Situation: Why This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384198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• QVI seeks to boost chip sales amid stagnant growth</a:t>
            </a:r>
          </a:p>
          <a:p>
            <a:pPr marL="0" indent="0">
              <a:buNone/>
            </a:pPr>
            <a:r>
              <a:rPr lang="en-US"/>
              <a:t>• Dataset: 264k transactions across 272 stores (2017–2019)</a:t>
            </a:r>
          </a:p>
          <a:p>
            <a:pPr marL="0" indent="0">
              <a:buNone/>
            </a:pPr>
            <a:r>
              <a:rPr lang="en-US"/>
              <a:t>• Objective: Identify high-potential segments and validate trial impact</a:t>
            </a:r>
          </a:p>
          <a:p>
            <a:pPr marL="0" indent="0">
              <a:buNone/>
            </a:pPr>
            <a:r>
              <a:rPr lang="en-US"/>
              <a:t>• Market opportunity: Chips category grew 5% YoY, but QVI share flat</a:t>
            </a:r>
          </a:p>
        </p:txBody>
      </p:sp>
      <p:pic>
        <p:nvPicPr>
          <p:cNvPr id="7" name="Picture 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25A91793-54CC-EE7D-9C01-E067E359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37" y="773016"/>
            <a:ext cx="4088720" cy="244301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46AF29-A066-2B8A-CE3B-93CF1FD85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30" y="3796062"/>
            <a:ext cx="4088720" cy="1809258"/>
          </a:xfrm>
          <a:prstGeom prst="rect">
            <a:avLst/>
          </a:prstGeom>
        </p:spPr>
      </p:pic>
      <p:sp>
        <p:nvSpPr>
          <p:cNvPr id="16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DDF5B-1133-45D7-A901-9F28E0872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384198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Key Insights – Customer Segmentation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C7101-14DA-4743-898E-3563B0FC9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384198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• Young Singles/Couples (Mainstream) are high-value for larger packs</a:t>
            </a:r>
          </a:p>
          <a:p>
            <a:pPr marL="0" indent="0">
              <a:buNone/>
            </a:pPr>
            <a:r>
              <a:rPr lang="en-US"/>
              <a:t>• 175g packs show 25% higher purchase rate in this segment</a:t>
            </a:r>
          </a:p>
          <a:p>
            <a:pPr marL="0" indent="0">
              <a:buNone/>
            </a:pPr>
            <a:r>
              <a:rPr lang="en-US"/>
              <a:t>• Ideal target for premium placements and promotions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D0748D-5151-4F2A-8DD0-FC4BB9444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4530" y="645106"/>
            <a:ext cx="4088720" cy="5247747"/>
          </a:xfrm>
          <a:prstGeom prst="rect">
            <a:avLst/>
          </a:prstGeom>
          <a:solidFill>
            <a:srgbClr val="FFFFFE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39E4CFAE-3639-DB81-BCC0-927F075F8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172" y="1164847"/>
            <a:ext cx="3839876" cy="1823941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EDEE8B2-F00D-5718-2F38-FD1C33C4B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731" y="3705371"/>
            <a:ext cx="3834317" cy="1821300"/>
          </a:xfrm>
          <a:prstGeom prst="rect">
            <a:avLst/>
          </a:prstGeom>
        </p:spPr>
      </p:pic>
      <p:sp>
        <p:nvSpPr>
          <p:cNvPr id="18" name="Freeform 12">
            <a:extLst>
              <a:ext uri="{FF2B5EF4-FFF2-40B4-BE49-F238E27FC236}">
                <a16:creationId xmlns:a16="http://schemas.microsoft.com/office/drawing/2014/main" id="{EE1A7EAA-DE31-45FD-8A51-7ADE79018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3841989" cy="1259894"/>
          </a:xfrm>
        </p:spPr>
        <p:txBody>
          <a:bodyPr>
            <a:normAutofit/>
          </a:bodyPr>
          <a:lstStyle/>
          <a:p>
            <a:r>
              <a:t>Key Insights – Trial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384198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Trials in 3 stores: 77 (urban), 86 (suburban), 88 (regional)</a:t>
            </a:r>
          </a:p>
          <a:p>
            <a:pPr marL="0" indent="0">
              <a:buNone/>
            </a:pPr>
            <a:r>
              <a:rPr dirty="0"/>
              <a:t>• Controls matched on pre-trial trends (</a:t>
            </a:r>
            <a:r>
              <a:rPr dirty="0" err="1"/>
              <a:t>corr</a:t>
            </a:r>
            <a:r>
              <a:rPr dirty="0"/>
              <a:t> &gt;0.9)</a:t>
            </a:r>
          </a:p>
          <a:p>
            <a:pPr marL="0" indent="0">
              <a:buNone/>
            </a:pPr>
            <a:r>
              <a:rPr dirty="0"/>
              <a:t>• Period: Jan–Apr 2019; metrics: sales volume &amp; customer count</a:t>
            </a:r>
          </a:p>
        </p:txBody>
      </p:sp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E6497928-9D37-4B30-5070-F8343AB86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37" y="936565"/>
            <a:ext cx="4088720" cy="2115912"/>
          </a:xfrm>
          <a:prstGeom prst="rect">
            <a:avLst/>
          </a:prstGeom>
        </p:spPr>
      </p:pic>
      <p:pic>
        <p:nvPicPr>
          <p:cNvPr id="5" name="Picture 4" descr="A graph with colorful lines&#10;&#10;AI-generated content may be incorrect.">
            <a:extLst>
              <a:ext uri="{FF2B5EF4-FFF2-40B4-BE49-F238E27FC236}">
                <a16:creationId xmlns:a16="http://schemas.microsoft.com/office/drawing/2014/main" id="{06C18EFA-5BAE-2D46-C59B-6CDAFF97B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30" y="3663178"/>
            <a:ext cx="4088720" cy="2075025"/>
          </a:xfrm>
          <a:prstGeom prst="rect">
            <a:avLst/>
          </a:prstGeom>
        </p:spPr>
      </p:pic>
      <p:sp>
        <p:nvSpPr>
          <p:cNvPr id="16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r>
              <a:t>Analysis – Sales Uplift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Store 77: +18% sales uplift (p&lt;0.05)</a:t>
            </a:r>
          </a:p>
          <a:p>
            <a:pPr marL="0" indent="0">
              <a:buNone/>
            </a:pPr>
            <a:r>
              <a:rPr dirty="0"/>
              <a:t>• Store 86: Flat (0%) – possible low traffic</a:t>
            </a:r>
          </a:p>
          <a:p>
            <a:pPr marL="0" indent="0">
              <a:buNone/>
            </a:pPr>
            <a:r>
              <a:rPr dirty="0"/>
              <a:t>• Store 88: +12% uplift driven by +8% customers</a:t>
            </a:r>
          </a:p>
          <a:p>
            <a:pPr marL="0" indent="0">
              <a:buNone/>
            </a:pPr>
            <a:r>
              <a:rPr dirty="0"/>
              <a:t>• Pre-trial std. dev. &lt;3% confirms trial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C2F5D-F929-658B-A104-5D6476CA4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657" y="1864886"/>
            <a:ext cx="5215183" cy="2803161"/>
          </a:xfrm>
          <a:prstGeom prst="rect">
            <a:avLst/>
          </a:prstGeom>
        </p:spPr>
      </p:pic>
      <p:sp>
        <p:nvSpPr>
          <p:cNvPr id="14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C5B3688B-ADB1-DFF3-9128-4DC028081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73503"/>
            <a:ext cx="2458719" cy="1364588"/>
          </a:xfrm>
          <a:prstGeom prst="rect">
            <a:avLst/>
          </a:prstGeom>
        </p:spPr>
      </p:pic>
      <p:pic>
        <p:nvPicPr>
          <p:cNvPr id="16" name="Picture 15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F35C5018-81D3-2DE9-DF35-AED4A0A12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619" y="1211769"/>
            <a:ext cx="2807654" cy="1488056"/>
          </a:xfrm>
          <a:prstGeom prst="rect">
            <a:avLst/>
          </a:prstGeom>
        </p:spPr>
      </p:pic>
      <p:pic>
        <p:nvPicPr>
          <p:cNvPr id="7" name="Picture 6" descr="A graph with green and blue lines&#10;&#10;AI-generated content may be incorrect.">
            <a:extLst>
              <a:ext uri="{FF2B5EF4-FFF2-40B4-BE49-F238E27FC236}">
                <a16:creationId xmlns:a16="http://schemas.microsoft.com/office/drawing/2014/main" id="{66EF1C58-6883-16F7-00C8-D50FB198C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573" y="1275446"/>
            <a:ext cx="2429826" cy="1360702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1D738AE1-7136-9599-A01D-DD9250B46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4226048"/>
            <a:ext cx="2458719" cy="1352295"/>
          </a:xfrm>
          <a:prstGeom prst="rect">
            <a:avLst/>
          </a:prstGeom>
        </p:spPr>
      </p:pic>
      <p:pic>
        <p:nvPicPr>
          <p:cNvPr id="9" name="Picture 8" descr="A graph of a graph showing the number of sales&#10;&#10;AI-generated content may be incorrect.">
            <a:extLst>
              <a:ext uri="{FF2B5EF4-FFF2-40B4-BE49-F238E27FC236}">
                <a16:creationId xmlns:a16="http://schemas.microsoft.com/office/drawing/2014/main" id="{AD0B9C3E-4BE7-75CD-C9B6-94754446B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620" y="4164322"/>
            <a:ext cx="2807654" cy="1495075"/>
          </a:xfrm>
          <a:prstGeom prst="rect">
            <a:avLst/>
          </a:prstGeom>
        </p:spPr>
      </p:pic>
      <p:pic>
        <p:nvPicPr>
          <p:cNvPr id="5" name="Picture 4" descr="A graph with colorful lines&#10;&#10;AI-generated content may be incorrect.">
            <a:extLst>
              <a:ext uri="{FF2B5EF4-FFF2-40B4-BE49-F238E27FC236}">
                <a16:creationId xmlns:a16="http://schemas.microsoft.com/office/drawing/2014/main" id="{A94213BD-2409-18C8-60A5-A74307D4A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1572" y="4225433"/>
            <a:ext cx="2429827" cy="137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1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273770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Analysis – Customer Uplift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2737709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Store 77: +10% customers post-trial</a:t>
            </a:r>
          </a:p>
          <a:p>
            <a:pPr marL="0" indent="0">
              <a:buNone/>
            </a:pPr>
            <a:r>
              <a:rPr dirty="0"/>
              <a:t>• Store 86: -2% (non-significant)</a:t>
            </a:r>
          </a:p>
          <a:p>
            <a:pPr marL="0" indent="0">
              <a:buNone/>
            </a:pPr>
            <a:r>
              <a:rPr dirty="0"/>
              <a:t>• Store 88: +7% customers</a:t>
            </a:r>
          </a:p>
          <a:p>
            <a:pPr marL="0" indent="0">
              <a:buNone/>
            </a:pPr>
            <a:r>
              <a:rPr dirty="0"/>
              <a:t>• Uplift from new Young Singles segment customers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3B3EB-418B-A1C6-DD08-B443EBFBD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657" y="1811066"/>
            <a:ext cx="5215183" cy="2910800"/>
          </a:xfrm>
          <a:prstGeom prst="rect">
            <a:avLst/>
          </a:prstGeom>
        </p:spPr>
      </p:pic>
      <p:sp>
        <p:nvSpPr>
          <p:cNvPr id="17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Promote 150g+ packs to Young Singles/Couples (Mainstream)</a:t>
            </a:r>
          </a:p>
          <a:p>
            <a:pPr marL="0" indent="0">
              <a:buNone/>
            </a:pPr>
            <a:r>
              <a:rPr dirty="0"/>
              <a:t>• Expand trials to 50 stores like 77/88; pause 86-type stores</a:t>
            </a:r>
          </a:p>
          <a:p>
            <a:pPr marL="0" indent="0">
              <a:buNone/>
            </a:pPr>
            <a:r>
              <a:rPr dirty="0"/>
              <a:t>• A/B test pricing on 175g packs; monitor via monthly dashboards</a:t>
            </a:r>
          </a:p>
          <a:p>
            <a:pPr marL="0" indent="0">
              <a:buNone/>
            </a:pPr>
            <a:r>
              <a:rPr dirty="0"/>
              <a:t>• Projected ROI: 18% sales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F8342-2960-91C5-02A2-73FCD0C5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28" y="4730719"/>
            <a:ext cx="7190670" cy="8776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Thank you for partnering with Quantium.</a:t>
            </a:r>
          </a:p>
          <a:p>
            <a:pPr marL="0" indent="0">
              <a:buNone/>
            </a:pPr>
            <a:r>
              <a:rPr dirty="0"/>
              <a:t>Questions?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Contact: shreyajaiswal.mcs@gmail.com | +1 309-242-0283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114</TotalTime>
  <Words>431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QVI Retail Strategy: Customer Insights and Trial Uplift Analysis</vt:lpstr>
      <vt:lpstr>Executive Summary</vt:lpstr>
      <vt:lpstr>Agenda</vt:lpstr>
      <vt:lpstr>Situation: Why This Matters</vt:lpstr>
      <vt:lpstr>Key Insights – Customer Segmentation</vt:lpstr>
      <vt:lpstr>Key Insights – Trial Overview</vt:lpstr>
      <vt:lpstr>Analysis – Sales Uplift</vt:lpstr>
      <vt:lpstr>PowerPoint Presentation</vt:lpstr>
      <vt:lpstr>Analysis – Customer Uplift</vt:lpstr>
      <vt:lpstr>Recommendations</vt:lpstr>
      <vt:lpstr>Thank You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Shreyaben Jaiswal</cp:lastModifiedBy>
  <cp:revision>6</cp:revision>
  <dcterms:created xsi:type="dcterms:W3CDTF">2013-01-27T09:14:16Z</dcterms:created>
  <dcterms:modified xsi:type="dcterms:W3CDTF">2025-10-28T16:11:31Z</dcterms:modified>
  <cp:category/>
</cp:coreProperties>
</file>